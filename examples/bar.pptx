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theme" Target="theme/theme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 rtlCol="0">
            <a:normAutofit/>
          </a:bodyPr>
          <a:lstStyle/>
          <a:p>
            <a:pPr algn="ctr">
              <a:buNone/>
              <a:lnSpc>
                <a:spcPct val="100000"/>
              </a:lnSpc>
            </a:pPr>
            <a:r>
              <a:rPr lang="zh-CN" altLang="en-US" sz="1700" b="1" dirty="0">
                <a:solidFill>
                  <a:srgbClr val="333333"/>
                </a:solidFill>
                <a:latin typeface="微软雅黑"/>
                <a:ea typeface="微软雅黑"/>
              </a:rPr>
              <a:t>2026 季度营收（万元）</a:t>
            </a:r>
          </a:p>
        </p:txBody>
      </p:sp>
      <p:sp>
        <p:nvSpPr>
          <p:cNvPr id="3" name="Line 3"/>
          <p:cNvSpPr/>
          <p:nvPr/>
        </p:nvSpPr>
        <p:spPr>
          <a:xfrm>
            <a:off x="1371600" y="1554480"/>
            <a:ext cx="1829" cy="3977640"/>
          </a:xfrm>
          <a:prstGeom prst="line">
            <a:avLst/>
          </a:prstGeom>
          <a:ln w="19050">
            <a:solidFill>
              <a:srgbClr val="BFBFBF"/>
            </a:solidFill>
          </a:ln>
        </p:spPr>
      </p:sp>
      <p:sp>
        <p:nvSpPr>
          <p:cNvPr id="4" name="Line 4"/>
          <p:cNvSpPr/>
          <p:nvPr/>
        </p:nvSpPr>
        <p:spPr>
          <a:xfrm>
            <a:off x="1371600" y="5532120"/>
            <a:ext cx="9784080" cy="1829"/>
          </a:xfrm>
          <a:prstGeom prst="line">
            <a:avLst/>
          </a:prstGeom>
          <a:ln w="19050">
            <a:solidFill>
              <a:srgbClr val="BFBFBF"/>
            </a:solidFill>
          </a:ln>
        </p:spPr>
      </p:sp>
      <p:sp>
        <p:nvSpPr>
          <p:cNvPr id="5" name="Shape 5"/>
          <p:cNvSpPr/>
          <p:nvPr/>
        </p:nvSpPr>
        <p:spPr>
          <a:xfrm>
            <a:off x="1714043" y="3374756"/>
            <a:ext cx="810122" cy="2157364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1622603" y="3063860"/>
            <a:ext cx="1063447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 rtlCol="0">
            <a:normAutofit/>
          </a:bodyPr>
          <a:lstStyle/>
          <a:p>
            <a:pPr algn="ctr">
              <a:buNone/>
              <a:lnSpc>
                <a:spcPct val="100000"/>
              </a:lnSpc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128</a:t>
            </a:r>
          </a:p>
        </p:txBody>
      </p:sp>
      <p:sp>
        <p:nvSpPr>
          <p:cNvPr id="7" name="Shape 7"/>
          <p:cNvSpPr/>
          <p:nvPr/>
        </p:nvSpPr>
        <p:spPr>
          <a:xfrm>
            <a:off x="4160063" y="2902833"/>
            <a:ext cx="810122" cy="2629287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4068623" y="2591937"/>
            <a:ext cx="1063447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 rtlCol="0">
            <a:normAutofit/>
          </a:bodyPr>
          <a:lstStyle/>
          <a:p>
            <a:pPr algn="ctr">
              <a:buNone/>
              <a:lnSpc>
                <a:spcPct val="100000"/>
              </a:lnSpc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156</a:t>
            </a:r>
          </a:p>
        </p:txBody>
      </p:sp>
      <p:sp>
        <p:nvSpPr>
          <p:cNvPr id="9" name="Shape 9"/>
          <p:cNvSpPr/>
          <p:nvPr/>
        </p:nvSpPr>
        <p:spPr>
          <a:xfrm>
            <a:off x="6606083" y="3138794"/>
            <a:ext cx="810122" cy="2393326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6514643" y="2827898"/>
            <a:ext cx="1063447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 rtlCol="0">
            <a:normAutofit/>
          </a:bodyPr>
          <a:lstStyle/>
          <a:p>
            <a:pPr algn="ctr">
              <a:buNone/>
              <a:lnSpc>
                <a:spcPct val="100000"/>
              </a:lnSpc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142</a:t>
            </a:r>
          </a:p>
        </p:txBody>
      </p:sp>
      <p:sp>
        <p:nvSpPr>
          <p:cNvPr id="11" name="Shape 11"/>
          <p:cNvSpPr/>
          <p:nvPr/>
        </p:nvSpPr>
        <p:spPr>
          <a:xfrm>
            <a:off x="9052103" y="2194947"/>
            <a:ext cx="810122" cy="3337173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8960663" y="1884051"/>
            <a:ext cx="1063447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 rtlCol="0">
            <a:normAutofit/>
          </a:bodyPr>
          <a:lstStyle/>
          <a:p>
            <a:pPr algn="ctr">
              <a:buNone/>
              <a:lnSpc>
                <a:spcPct val="100000"/>
              </a:lnSpc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198</a:t>
            </a:r>
          </a:p>
        </p:txBody>
      </p:sp>
      <p:sp>
        <p:nvSpPr>
          <p:cNvPr id="13" name="Shape 13"/>
          <p:cNvSpPr/>
          <p:nvPr/>
        </p:nvSpPr>
        <p:spPr>
          <a:xfrm>
            <a:off x="2594610" y="2970250"/>
            <a:ext cx="810122" cy="256187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2503170" y="2659354"/>
            <a:ext cx="1063447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 rtlCol="0">
            <a:normAutofit/>
          </a:bodyPr>
          <a:lstStyle/>
          <a:p>
            <a:pPr algn="ctr">
              <a:buNone/>
              <a:lnSpc>
                <a:spcPct val="100000"/>
              </a:lnSpc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152</a:t>
            </a:r>
          </a:p>
        </p:txBody>
      </p:sp>
      <p:sp>
        <p:nvSpPr>
          <p:cNvPr id="15" name="Shape 15"/>
          <p:cNvSpPr/>
          <p:nvPr/>
        </p:nvSpPr>
        <p:spPr>
          <a:xfrm>
            <a:off x="5040630" y="2363492"/>
            <a:ext cx="810122" cy="3168628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4949190" y="2052596"/>
            <a:ext cx="1063447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 rtlCol="0">
            <a:normAutofit/>
          </a:bodyPr>
          <a:lstStyle/>
          <a:p>
            <a:pPr algn="ctr">
              <a:buNone/>
              <a:lnSpc>
                <a:spcPct val="100000"/>
              </a:lnSpc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188</a:t>
            </a:r>
          </a:p>
        </p:txBody>
      </p:sp>
      <p:sp>
        <p:nvSpPr>
          <p:cNvPr id="17" name="Shape 17"/>
          <p:cNvSpPr/>
          <p:nvPr/>
        </p:nvSpPr>
        <p:spPr>
          <a:xfrm>
            <a:off x="7486650" y="2650016"/>
            <a:ext cx="810122" cy="2882104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7395210" y="2339120"/>
            <a:ext cx="1063447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 rtlCol="0">
            <a:normAutofit/>
          </a:bodyPr>
          <a:lstStyle/>
          <a:p>
            <a:pPr algn="ctr">
              <a:buNone/>
              <a:lnSpc>
                <a:spcPct val="100000"/>
              </a:lnSpc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171</a:t>
            </a:r>
          </a:p>
        </p:txBody>
      </p:sp>
      <p:sp>
        <p:nvSpPr>
          <p:cNvPr id="19" name="Shape 19"/>
          <p:cNvSpPr/>
          <p:nvPr/>
        </p:nvSpPr>
        <p:spPr>
          <a:xfrm>
            <a:off x="9932670" y="1554480"/>
            <a:ext cx="810122" cy="397764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0" name="Shape 20"/>
          <p:cNvSpPr/>
          <p:nvPr/>
        </p:nvSpPr>
        <p:spPr>
          <a:xfrm>
            <a:off x="9841230" y="1243584"/>
            <a:ext cx="1063447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 rtlCol="0">
            <a:normAutofit/>
          </a:bodyPr>
          <a:lstStyle/>
          <a:p>
            <a:pPr algn="ctr">
              <a:buNone/>
              <a:lnSpc>
                <a:spcPct val="100000"/>
              </a:lnSpc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236</a:t>
            </a:r>
          </a:p>
        </p:txBody>
      </p:sp>
      <p:sp>
        <p:nvSpPr>
          <p:cNvPr id="21" name="Shape 21"/>
          <p:cNvSpPr/>
          <p:nvPr/>
        </p:nvSpPr>
        <p:spPr>
          <a:xfrm>
            <a:off x="2045970" y="5605272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 rtlCol="0">
            <a:normAutofit/>
          </a:bodyPr>
          <a:lstStyle/>
          <a:p>
            <a:pPr algn="ctr">
              <a:buNone/>
              <a:lnSpc>
                <a:spcPct val="100000"/>
              </a:lnSpc>
            </a:pPr>
            <a:r>
              <a:rPr lang="zh-CN" altLang="en-US" sz="1200" b="0" dirty="0">
                <a:solidFill>
                  <a:srgbClr val="333333"/>
                </a:solidFill>
                <a:latin typeface="微软雅黑"/>
                <a:ea typeface="微软雅黑"/>
              </a:rPr>
              <a:t>Q1</a:t>
            </a:r>
          </a:p>
        </p:txBody>
      </p:sp>
      <p:sp>
        <p:nvSpPr>
          <p:cNvPr id="22" name="Shape 22"/>
          <p:cNvSpPr/>
          <p:nvPr/>
        </p:nvSpPr>
        <p:spPr>
          <a:xfrm>
            <a:off x="4491990" y="5605272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 rtlCol="0">
            <a:normAutofit/>
          </a:bodyPr>
          <a:lstStyle/>
          <a:p>
            <a:pPr algn="ctr">
              <a:buNone/>
              <a:lnSpc>
                <a:spcPct val="100000"/>
              </a:lnSpc>
            </a:pPr>
            <a:r>
              <a:rPr lang="zh-CN" altLang="en-US" sz="1200" b="0" dirty="0">
                <a:solidFill>
                  <a:srgbClr val="333333"/>
                </a:solidFill>
                <a:latin typeface="微软雅黑"/>
                <a:ea typeface="微软雅黑"/>
              </a:rPr>
              <a:t>Q2</a:t>
            </a:r>
          </a:p>
        </p:txBody>
      </p:sp>
      <p:sp>
        <p:nvSpPr>
          <p:cNvPr id="23" name="Shape 23"/>
          <p:cNvSpPr/>
          <p:nvPr/>
        </p:nvSpPr>
        <p:spPr>
          <a:xfrm>
            <a:off x="6938010" y="5605272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 rtlCol="0">
            <a:normAutofit/>
          </a:bodyPr>
          <a:lstStyle/>
          <a:p>
            <a:pPr algn="ctr">
              <a:buNone/>
              <a:lnSpc>
                <a:spcPct val="100000"/>
              </a:lnSpc>
            </a:pPr>
            <a:r>
              <a:rPr lang="zh-CN" altLang="en-US" sz="1200" b="0" dirty="0">
                <a:solidFill>
                  <a:srgbClr val="333333"/>
                </a:solidFill>
                <a:latin typeface="微软雅黑"/>
                <a:ea typeface="微软雅黑"/>
              </a:rPr>
              <a:t>Q3</a:t>
            </a:r>
          </a:p>
        </p:txBody>
      </p:sp>
      <p:sp>
        <p:nvSpPr>
          <p:cNvPr id="24" name="Shape 24"/>
          <p:cNvSpPr/>
          <p:nvPr/>
        </p:nvSpPr>
        <p:spPr>
          <a:xfrm>
            <a:off x="9384030" y="5605272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 rtlCol="0">
            <a:normAutofit/>
          </a:bodyPr>
          <a:lstStyle/>
          <a:p>
            <a:pPr algn="ctr">
              <a:buNone/>
              <a:lnSpc>
                <a:spcPct val="100000"/>
              </a:lnSpc>
            </a:pPr>
            <a:r>
              <a:rPr lang="zh-CN" altLang="en-US" sz="1200" b="0" dirty="0">
                <a:solidFill>
                  <a:srgbClr val="333333"/>
                </a:solidFill>
                <a:latin typeface="微软雅黑"/>
                <a:ea typeface="微软雅黑"/>
              </a:rPr>
              <a:t>Q4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